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891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bg1">
                  <a:alpha val="25000"/>
                </a:schemeClr>
              </a:solidFill>
            </a:ln>
          </c:spPr>
          <c:explosion val="4"/>
          <c:dPt>
            <c:idx val="0"/>
            <c:bubble3D val="0"/>
            <c:spPr>
              <a:solidFill>
                <a:srgbClr val="70B3AE">
                  <a:alpha val="25000"/>
                </a:srgbClr>
              </a:solidFill>
              <a:ln w="19050">
                <a:solidFill>
                  <a:schemeClr val="bg1">
                    <a:alpha val="2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6AF-432F-876F-9CF73B2E8EAB}"/>
              </c:ext>
            </c:extLst>
          </c:dPt>
          <c:dPt>
            <c:idx val="1"/>
            <c:bubble3D val="0"/>
            <c:spPr>
              <a:solidFill>
                <a:schemeClr val="accent1">
                  <a:alpha val="25000"/>
                </a:schemeClr>
              </a:solidFill>
              <a:ln w="19050">
                <a:solidFill>
                  <a:schemeClr val="bg1">
                    <a:alpha val="2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AF-432F-876F-9CF73B2E8EAB}"/>
              </c:ext>
            </c:extLst>
          </c:dPt>
          <c:dPt>
            <c:idx val="2"/>
            <c:bubble3D val="0"/>
            <c:spPr>
              <a:solidFill>
                <a:srgbClr val="8C9CAC">
                  <a:alpha val="25000"/>
                </a:srgbClr>
              </a:solidFill>
              <a:ln w="19050">
                <a:solidFill>
                  <a:schemeClr val="bg1">
                    <a:alpha val="2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6AF-432F-876F-9CF73B2E8EAB}"/>
              </c:ext>
            </c:extLst>
          </c:dPt>
          <c:dPt>
            <c:idx val="3"/>
            <c:bubble3D val="0"/>
            <c:spPr>
              <a:solidFill>
                <a:srgbClr val="427E84">
                  <a:alpha val="25000"/>
                </a:srgbClr>
              </a:solidFill>
              <a:ln w="19050">
                <a:solidFill>
                  <a:schemeClr val="bg1">
                    <a:alpha val="2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6AF-432F-876F-9CF73B2E8EAB}"/>
              </c:ext>
            </c:extLst>
          </c:dPt>
          <c:dPt>
            <c:idx val="4"/>
            <c:bubble3D val="0"/>
            <c:spPr>
              <a:solidFill>
                <a:srgbClr val="FFBE00">
                  <a:alpha val="25000"/>
                </a:srgbClr>
              </a:solidFill>
              <a:ln w="19050">
                <a:solidFill>
                  <a:schemeClr val="bg1">
                    <a:alpha val="2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6AF-432F-876F-9CF73B2E8EAB}"/>
              </c:ext>
            </c:extLst>
          </c:dPt>
          <c:cat>
            <c:strRef>
              <c:f>Sheet1!$A$2:$A$6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6AF-432F-876F-9CF73B2E8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solidFill>
            <a:schemeClr val="bg1">
              <a:alpha val="25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493226-DBEF-4A56-9160-296E29FC6780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6264E87F-D246-4F68-A384-691415AC5FF3}">
      <dgm:prSet phldrT="[Text]" custT="1"/>
      <dgm:spPr>
        <a:solidFill>
          <a:srgbClr val="D6DFE2">
            <a:alpha val="50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Requirements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 Interoperability</a:t>
          </a:r>
        </a:p>
      </dgm:t>
    </dgm:pt>
    <dgm:pt modelId="{D7D5B990-A59D-4542-93E2-8199C22DA8E3}" type="parTrans" cxnId="{CC216CAC-1764-4357-982D-8FEC1FD52F78}">
      <dgm:prSet/>
      <dgm:spPr/>
      <dgm:t>
        <a:bodyPr/>
        <a:lstStyle/>
        <a:p>
          <a:endParaRPr lang="en-GB" sz="1600" b="1"/>
        </a:p>
      </dgm:t>
    </dgm:pt>
    <dgm:pt modelId="{4DFF1144-435D-4624-A565-291FB019D418}" type="sibTrans" cxnId="{CC216CAC-1764-4357-982D-8FEC1FD52F78}">
      <dgm:prSet/>
      <dgm:spPr/>
      <dgm:t>
        <a:bodyPr/>
        <a:lstStyle/>
        <a:p>
          <a:endParaRPr lang="en-GB" sz="1600" b="1"/>
        </a:p>
      </dgm:t>
    </dgm:pt>
    <dgm:pt modelId="{A93EDAE3-543E-486F-8430-09EC7125929E}">
      <dgm:prSet phldrT="[Text]" custT="1"/>
      <dgm:spPr>
        <a:solidFill>
          <a:srgbClr val="427E84">
            <a:alpha val="50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Systems Interoperability</a:t>
          </a:r>
        </a:p>
      </dgm:t>
    </dgm:pt>
    <dgm:pt modelId="{086C036F-A7D0-4DB2-AE24-F0F0AF0CBCAD}" type="parTrans" cxnId="{177F38D4-7CC1-404F-83DF-FE3EC8C066A6}">
      <dgm:prSet/>
      <dgm:spPr/>
      <dgm:t>
        <a:bodyPr/>
        <a:lstStyle/>
        <a:p>
          <a:endParaRPr lang="en-GB" sz="1600" b="1"/>
        </a:p>
      </dgm:t>
    </dgm:pt>
    <dgm:pt modelId="{DBF4D702-C65A-4AC1-86DD-C695E8634CCE}" type="sibTrans" cxnId="{177F38D4-7CC1-404F-83DF-FE3EC8C066A6}">
      <dgm:prSet/>
      <dgm:spPr/>
      <dgm:t>
        <a:bodyPr/>
        <a:lstStyle/>
        <a:p>
          <a:endParaRPr lang="en-GB" sz="1600" b="1"/>
        </a:p>
      </dgm:t>
    </dgm:pt>
    <dgm:pt modelId="{05F820E1-6096-46BD-8CBB-2E6D77F287FC}">
      <dgm:prSet phldrT="[Text]" custT="1"/>
      <dgm:spPr>
        <a:solidFill>
          <a:srgbClr val="70B3AE">
            <a:alpha val="50000"/>
          </a:srgbClr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Data Interoperability</a:t>
          </a:r>
        </a:p>
      </dgm:t>
    </dgm:pt>
    <dgm:pt modelId="{B6FE815D-AE5D-4F4A-ABC8-AE88A535F40C}" type="parTrans" cxnId="{72A097E6-5650-4DBA-9855-41D1998FD95D}">
      <dgm:prSet/>
      <dgm:spPr/>
      <dgm:t>
        <a:bodyPr/>
        <a:lstStyle/>
        <a:p>
          <a:endParaRPr lang="en-GB" sz="1600" b="1"/>
        </a:p>
      </dgm:t>
    </dgm:pt>
    <dgm:pt modelId="{195530AE-364E-4E54-9C6C-58D7A846D8D7}" type="sibTrans" cxnId="{72A097E6-5650-4DBA-9855-41D1998FD95D}">
      <dgm:prSet/>
      <dgm:spPr/>
      <dgm:t>
        <a:bodyPr/>
        <a:lstStyle/>
        <a:p>
          <a:endParaRPr lang="en-GB" sz="1600" b="1"/>
        </a:p>
      </dgm:t>
    </dgm:pt>
    <dgm:pt modelId="{F786BD30-290D-461F-BEA3-A91F4065BA02}" type="pres">
      <dgm:prSet presAssocID="{ED493226-DBEF-4A56-9160-296E29FC6780}" presName="compositeShape" presStyleCnt="0">
        <dgm:presLayoutVars>
          <dgm:chMax val="7"/>
          <dgm:dir/>
          <dgm:resizeHandles val="exact"/>
        </dgm:presLayoutVars>
      </dgm:prSet>
      <dgm:spPr/>
    </dgm:pt>
    <dgm:pt modelId="{F81CC1FB-C9B4-4F72-890E-2D377F1AC216}" type="pres">
      <dgm:prSet presAssocID="{6264E87F-D246-4F68-A384-691415AC5FF3}" presName="circ1" presStyleLbl="vennNode1" presStyleIdx="0" presStyleCnt="3"/>
      <dgm:spPr>
        <a:xfrm>
          <a:off x="2438399" y="67733"/>
          <a:ext cx="3251200" cy="3251200"/>
        </a:xfrm>
        <a:prstGeom prst="ellipse">
          <a:avLst/>
        </a:prstGeom>
      </dgm:spPr>
    </dgm:pt>
    <dgm:pt modelId="{1D6852FD-7573-4CEE-A6FC-79FFBACEE2BD}" type="pres">
      <dgm:prSet presAssocID="{6264E87F-D246-4F68-A384-691415AC5FF3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EB20C69-4956-4049-93AB-C9032624811E}" type="pres">
      <dgm:prSet presAssocID="{A93EDAE3-543E-486F-8430-09EC7125929E}" presName="circ2" presStyleLbl="vennNode1" presStyleIdx="1" presStyleCnt="3"/>
      <dgm:spPr>
        <a:xfrm>
          <a:off x="3611541" y="2099733"/>
          <a:ext cx="3251200" cy="3251200"/>
        </a:xfrm>
        <a:prstGeom prst="ellipse">
          <a:avLst/>
        </a:prstGeom>
      </dgm:spPr>
    </dgm:pt>
    <dgm:pt modelId="{02227E10-6B8C-41F1-A868-BF38CA0A60F3}" type="pres">
      <dgm:prSet presAssocID="{A93EDAE3-543E-486F-8430-09EC7125929E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342FE51-2067-41D2-B17C-8F19AB2F88AF}" type="pres">
      <dgm:prSet presAssocID="{05F820E1-6096-46BD-8CBB-2E6D77F287FC}" presName="circ3" presStyleLbl="vennNode1" presStyleIdx="2" presStyleCnt="3"/>
      <dgm:spPr>
        <a:xfrm>
          <a:off x="1265258" y="2099733"/>
          <a:ext cx="3251200" cy="3251200"/>
        </a:xfrm>
        <a:prstGeom prst="ellipse">
          <a:avLst/>
        </a:prstGeom>
      </dgm:spPr>
    </dgm:pt>
    <dgm:pt modelId="{FDFF7119-ED03-4B27-8D6B-BFE446FBD61C}" type="pres">
      <dgm:prSet presAssocID="{05F820E1-6096-46BD-8CBB-2E6D77F287F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10137006-D64A-4199-8AD9-F45EEB1DEA63}" type="presOf" srcId="{A93EDAE3-543E-486F-8430-09EC7125929E}" destId="{02227E10-6B8C-41F1-A868-BF38CA0A60F3}" srcOrd="1" destOrd="0" presId="urn:microsoft.com/office/officeart/2005/8/layout/venn1"/>
    <dgm:cxn modelId="{74B1461A-5DB7-4361-9D67-3785769C8444}" type="presOf" srcId="{ED493226-DBEF-4A56-9160-296E29FC6780}" destId="{F786BD30-290D-461F-BEA3-A91F4065BA02}" srcOrd="0" destOrd="0" presId="urn:microsoft.com/office/officeart/2005/8/layout/venn1"/>
    <dgm:cxn modelId="{5301105B-6B91-46DD-B329-CB874CC19592}" type="presOf" srcId="{05F820E1-6096-46BD-8CBB-2E6D77F287FC}" destId="{FDFF7119-ED03-4B27-8D6B-BFE446FBD61C}" srcOrd="1" destOrd="0" presId="urn:microsoft.com/office/officeart/2005/8/layout/venn1"/>
    <dgm:cxn modelId="{E3E1BF65-625F-4CD5-A3A9-A62B7028B1EE}" type="presOf" srcId="{6264E87F-D246-4F68-A384-691415AC5FF3}" destId="{1D6852FD-7573-4CEE-A6FC-79FFBACEE2BD}" srcOrd="1" destOrd="0" presId="urn:microsoft.com/office/officeart/2005/8/layout/venn1"/>
    <dgm:cxn modelId="{D72A6B49-1FA1-4A60-8CEC-66FE03409C71}" type="presOf" srcId="{05F820E1-6096-46BD-8CBB-2E6D77F287FC}" destId="{B342FE51-2067-41D2-B17C-8F19AB2F88AF}" srcOrd="0" destOrd="0" presId="urn:microsoft.com/office/officeart/2005/8/layout/venn1"/>
    <dgm:cxn modelId="{8179AB4A-73ED-4F39-BBBA-574356AF4BF9}" type="presOf" srcId="{A93EDAE3-543E-486F-8430-09EC7125929E}" destId="{1EB20C69-4956-4049-93AB-C9032624811E}" srcOrd="0" destOrd="0" presId="urn:microsoft.com/office/officeart/2005/8/layout/venn1"/>
    <dgm:cxn modelId="{CC216CAC-1764-4357-982D-8FEC1FD52F78}" srcId="{ED493226-DBEF-4A56-9160-296E29FC6780}" destId="{6264E87F-D246-4F68-A384-691415AC5FF3}" srcOrd="0" destOrd="0" parTransId="{D7D5B990-A59D-4542-93E2-8199C22DA8E3}" sibTransId="{4DFF1144-435D-4624-A565-291FB019D418}"/>
    <dgm:cxn modelId="{CAEFFDAD-121D-4AD7-A5B9-CA1CC5C3EB18}" type="presOf" srcId="{6264E87F-D246-4F68-A384-691415AC5FF3}" destId="{F81CC1FB-C9B4-4F72-890E-2D377F1AC216}" srcOrd="0" destOrd="0" presId="urn:microsoft.com/office/officeart/2005/8/layout/venn1"/>
    <dgm:cxn modelId="{177F38D4-7CC1-404F-83DF-FE3EC8C066A6}" srcId="{ED493226-DBEF-4A56-9160-296E29FC6780}" destId="{A93EDAE3-543E-486F-8430-09EC7125929E}" srcOrd="1" destOrd="0" parTransId="{086C036F-A7D0-4DB2-AE24-F0F0AF0CBCAD}" sibTransId="{DBF4D702-C65A-4AC1-86DD-C695E8634CCE}"/>
    <dgm:cxn modelId="{72A097E6-5650-4DBA-9855-41D1998FD95D}" srcId="{ED493226-DBEF-4A56-9160-296E29FC6780}" destId="{05F820E1-6096-46BD-8CBB-2E6D77F287FC}" srcOrd="2" destOrd="0" parTransId="{B6FE815D-AE5D-4F4A-ABC8-AE88A535F40C}" sibTransId="{195530AE-364E-4E54-9C6C-58D7A846D8D7}"/>
    <dgm:cxn modelId="{5373CD07-5393-4A2E-BC9D-7D9C72A28DEE}" type="presParOf" srcId="{F786BD30-290D-461F-BEA3-A91F4065BA02}" destId="{F81CC1FB-C9B4-4F72-890E-2D377F1AC216}" srcOrd="0" destOrd="0" presId="urn:microsoft.com/office/officeart/2005/8/layout/venn1"/>
    <dgm:cxn modelId="{B7243F0D-9FCE-4DA7-B73C-3EEFAD86FE0C}" type="presParOf" srcId="{F786BD30-290D-461F-BEA3-A91F4065BA02}" destId="{1D6852FD-7573-4CEE-A6FC-79FFBACEE2BD}" srcOrd="1" destOrd="0" presId="urn:microsoft.com/office/officeart/2005/8/layout/venn1"/>
    <dgm:cxn modelId="{99FE003C-B07A-44E0-BDBC-3409320582E8}" type="presParOf" srcId="{F786BD30-290D-461F-BEA3-A91F4065BA02}" destId="{1EB20C69-4956-4049-93AB-C9032624811E}" srcOrd="2" destOrd="0" presId="urn:microsoft.com/office/officeart/2005/8/layout/venn1"/>
    <dgm:cxn modelId="{911AC1A0-EE89-48B8-B636-DCAE2CD3B913}" type="presParOf" srcId="{F786BD30-290D-461F-BEA3-A91F4065BA02}" destId="{02227E10-6B8C-41F1-A868-BF38CA0A60F3}" srcOrd="3" destOrd="0" presId="urn:microsoft.com/office/officeart/2005/8/layout/venn1"/>
    <dgm:cxn modelId="{B75D14B2-C85E-47EC-950F-770819A016D4}" type="presParOf" srcId="{F786BD30-290D-461F-BEA3-A91F4065BA02}" destId="{B342FE51-2067-41D2-B17C-8F19AB2F88AF}" srcOrd="4" destOrd="0" presId="urn:microsoft.com/office/officeart/2005/8/layout/venn1"/>
    <dgm:cxn modelId="{B0DDE4DC-7860-4493-B311-4F3AB24015F1}" type="presParOf" srcId="{F786BD30-290D-461F-BEA3-A91F4065BA02}" destId="{FDFF7119-ED03-4B27-8D6B-BFE446FBD61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CC1FB-C9B4-4F72-890E-2D377F1AC216}">
      <dsp:nvSpPr>
        <dsp:cNvPr id="0" name=""/>
        <dsp:cNvSpPr/>
      </dsp:nvSpPr>
      <dsp:spPr>
        <a:xfrm>
          <a:off x="3190786" y="81755"/>
          <a:ext cx="3924243" cy="3924243"/>
        </a:xfrm>
        <a:prstGeom prst="ellipse">
          <a:avLst/>
        </a:prstGeom>
        <a:solidFill>
          <a:srgbClr val="D6DFE2">
            <a:alpha val="5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Requirements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 Interoperability</a:t>
          </a:r>
        </a:p>
      </dsp:txBody>
      <dsp:txXfrm>
        <a:off x="3714018" y="768497"/>
        <a:ext cx="2877778" cy="1765909"/>
      </dsp:txXfrm>
    </dsp:sp>
    <dsp:sp modelId="{1EB20C69-4956-4049-93AB-C9032624811E}">
      <dsp:nvSpPr>
        <dsp:cNvPr id="0" name=""/>
        <dsp:cNvSpPr/>
      </dsp:nvSpPr>
      <dsp:spPr>
        <a:xfrm>
          <a:off x="4606784" y="2534406"/>
          <a:ext cx="3924243" cy="3924243"/>
        </a:xfrm>
        <a:prstGeom prst="ellipse">
          <a:avLst/>
        </a:prstGeom>
        <a:solidFill>
          <a:srgbClr val="427E84">
            <a:alpha val="5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Systems Interoperability</a:t>
          </a:r>
        </a:p>
      </dsp:txBody>
      <dsp:txXfrm>
        <a:off x="5806948" y="3548169"/>
        <a:ext cx="2354545" cy="2158333"/>
      </dsp:txXfrm>
    </dsp:sp>
    <dsp:sp modelId="{B342FE51-2067-41D2-B17C-8F19AB2F88AF}">
      <dsp:nvSpPr>
        <dsp:cNvPr id="0" name=""/>
        <dsp:cNvSpPr/>
      </dsp:nvSpPr>
      <dsp:spPr>
        <a:xfrm>
          <a:off x="1774788" y="2534406"/>
          <a:ext cx="3924243" cy="3924243"/>
        </a:xfrm>
        <a:prstGeom prst="ellipse">
          <a:avLst/>
        </a:prstGeom>
        <a:solidFill>
          <a:srgbClr val="70B3AE">
            <a:alpha val="5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+mn-ea"/>
              <a:cs typeface="+mn-cs"/>
            </a:rPr>
            <a:t>Data Interoperability</a:t>
          </a:r>
        </a:p>
      </dsp:txBody>
      <dsp:txXfrm>
        <a:off x="2144321" y="3548169"/>
        <a:ext cx="2354545" cy="2158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0794"/>
            <a:ext cx="10363200" cy="338409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05389"/>
            <a:ext cx="9144000" cy="234681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00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423318"/>
            <a:ext cx="10515600" cy="404335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504929"/>
            <a:ext cx="10515600" cy="212630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056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587570"/>
            <a:ext cx="5181600" cy="6167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587570"/>
            <a:ext cx="5181600" cy="6167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62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17516"/>
            <a:ext cx="10515600" cy="1878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382815"/>
            <a:ext cx="5157787" cy="116778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550596"/>
            <a:ext cx="5157787" cy="522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382815"/>
            <a:ext cx="5183188" cy="116778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550596"/>
            <a:ext cx="5183188" cy="522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64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17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855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8018"/>
            <a:ext cx="3932237" cy="226806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99540"/>
            <a:ext cx="6172200" cy="690768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916079"/>
            <a:ext cx="3932237" cy="540239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14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8018"/>
            <a:ext cx="3932237" cy="226806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99540"/>
            <a:ext cx="6172200" cy="690768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916079"/>
            <a:ext cx="3932237" cy="540239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24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67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17514"/>
            <a:ext cx="2628900" cy="82374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17514"/>
            <a:ext cx="7734300" cy="82374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3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17516"/>
            <a:ext cx="10515600" cy="1878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587570"/>
            <a:ext cx="10515600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009246"/>
            <a:ext cx="2743200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84F7A-AC3B-4F39-A6BB-A72A18D4D235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009246"/>
            <a:ext cx="4114800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009246"/>
            <a:ext cx="2743200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C06EF-B489-4B1F-9768-C41E5351A6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1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1272442-F349-1B92-11F7-0A239062D2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1301799"/>
              </p:ext>
            </p:extLst>
          </p:nvPr>
        </p:nvGraphicFramePr>
        <p:xfrm>
          <a:off x="1260220" y="1796698"/>
          <a:ext cx="10305816" cy="6540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B8563CD5-0854-9BD0-6735-A6EE09BE25D3}"/>
              </a:ext>
            </a:extLst>
          </p:cNvPr>
          <p:cNvSpPr/>
          <p:nvPr/>
        </p:nvSpPr>
        <p:spPr>
          <a:xfrm flipH="1">
            <a:off x="4228481" y="7346178"/>
            <a:ext cx="228229" cy="2172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0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D62FBB-C233-C876-7475-971EF8E3B3DD}"/>
              </a:ext>
            </a:extLst>
          </p:cNvPr>
          <p:cNvSpPr/>
          <p:nvPr/>
        </p:nvSpPr>
        <p:spPr>
          <a:xfrm flipH="1">
            <a:off x="5304160" y="4599233"/>
            <a:ext cx="228229" cy="2172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0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C2D6FC-57DB-6676-9CB2-6280B55B5E01}"/>
              </a:ext>
            </a:extLst>
          </p:cNvPr>
          <p:cNvSpPr/>
          <p:nvPr/>
        </p:nvSpPr>
        <p:spPr>
          <a:xfrm rot="5400000">
            <a:off x="6304495" y="6780576"/>
            <a:ext cx="217262" cy="228229"/>
          </a:xfrm>
          <a:prstGeom prst="ellipse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4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DCB428-7BCA-1E99-134B-50C1F827ACFE}"/>
              </a:ext>
            </a:extLst>
          </p:cNvPr>
          <p:cNvSpPr/>
          <p:nvPr/>
        </p:nvSpPr>
        <p:spPr>
          <a:xfrm rot="16200000">
            <a:off x="6303321" y="5310386"/>
            <a:ext cx="217262" cy="223880"/>
          </a:xfrm>
          <a:prstGeom prst="ellipse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4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AEAF49-736C-0477-C095-4F7BA30AA2C8}"/>
              </a:ext>
            </a:extLst>
          </p:cNvPr>
          <p:cNvSpPr/>
          <p:nvPr/>
        </p:nvSpPr>
        <p:spPr>
          <a:xfrm rot="16200000">
            <a:off x="6302144" y="2625127"/>
            <a:ext cx="217262" cy="223880"/>
          </a:xfrm>
          <a:prstGeom prst="ellipse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4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19FCC96-4A3B-3ADE-75F9-6023EBF6A363}"/>
              </a:ext>
            </a:extLst>
          </p:cNvPr>
          <p:cNvSpPr/>
          <p:nvPr/>
        </p:nvSpPr>
        <p:spPr>
          <a:xfrm rot="10800000" flipH="1">
            <a:off x="8369544" y="7346178"/>
            <a:ext cx="228229" cy="2172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0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508A9DB-BF2E-F5EB-A47F-90CC98B33DF3}"/>
              </a:ext>
            </a:extLst>
          </p:cNvPr>
          <p:cNvSpPr/>
          <p:nvPr/>
        </p:nvSpPr>
        <p:spPr>
          <a:xfrm rot="10800000" flipH="1">
            <a:off x="7296991" y="4599233"/>
            <a:ext cx="228229" cy="2172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 sz="200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3B5D55-E7FB-3BDE-BC96-2BFA32EC726B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7525220" y="4707864"/>
            <a:ext cx="2966979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66BAB1-1E25-96CF-0204-65C3AE20D487}"/>
              </a:ext>
            </a:extLst>
          </p:cNvPr>
          <p:cNvCxnSpPr>
            <a:cxnSpLocks/>
          </p:cNvCxnSpPr>
          <p:nvPr/>
        </p:nvCxnSpPr>
        <p:spPr>
          <a:xfrm>
            <a:off x="2337180" y="4707864"/>
            <a:ext cx="2966979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8B6C88-45BA-DFD6-6EA8-5431066E25FC}"/>
              </a:ext>
            </a:extLst>
          </p:cNvPr>
          <p:cNvCxnSpPr>
            <a:cxnSpLocks/>
          </p:cNvCxnSpPr>
          <p:nvPr/>
        </p:nvCxnSpPr>
        <p:spPr>
          <a:xfrm>
            <a:off x="2402648" y="7454809"/>
            <a:ext cx="182583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D339F-4736-DB83-E47D-1D02E22AC731}"/>
              </a:ext>
            </a:extLst>
          </p:cNvPr>
          <p:cNvCxnSpPr>
            <a:cxnSpLocks/>
          </p:cNvCxnSpPr>
          <p:nvPr/>
        </p:nvCxnSpPr>
        <p:spPr>
          <a:xfrm flipV="1">
            <a:off x="8597773" y="7454809"/>
            <a:ext cx="182583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711BE1-B615-208E-E36A-A9235F5B96B8}"/>
              </a:ext>
            </a:extLst>
          </p:cNvPr>
          <p:cNvCxnSpPr>
            <a:cxnSpLocks/>
          </p:cNvCxnSpPr>
          <p:nvPr/>
        </p:nvCxnSpPr>
        <p:spPr>
          <a:xfrm flipV="1">
            <a:off x="6410778" y="1629029"/>
            <a:ext cx="1175" cy="99940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83E527-F26E-8D30-CD41-B0901F922C3F}"/>
              </a:ext>
            </a:extLst>
          </p:cNvPr>
          <p:cNvCxnSpPr>
            <a:cxnSpLocks/>
          </p:cNvCxnSpPr>
          <p:nvPr/>
        </p:nvCxnSpPr>
        <p:spPr>
          <a:xfrm flipV="1">
            <a:off x="6410778" y="4308058"/>
            <a:ext cx="1175" cy="99940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182366-2C16-E5F7-8CA6-DA452768756F}"/>
              </a:ext>
            </a:extLst>
          </p:cNvPr>
          <p:cNvCxnSpPr>
            <a:cxnSpLocks/>
          </p:cNvCxnSpPr>
          <p:nvPr/>
        </p:nvCxnSpPr>
        <p:spPr>
          <a:xfrm flipV="1">
            <a:off x="6410776" y="7003322"/>
            <a:ext cx="0" cy="130357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Footer Placeholder">
            <a:extLst>
              <a:ext uri="{FF2B5EF4-FFF2-40B4-BE49-F238E27FC236}">
                <a16:creationId xmlns:a16="http://schemas.microsoft.com/office/drawing/2014/main" id="{A973D3CF-E5C4-9542-E9D1-FA759BAC1623}"/>
              </a:ext>
            </a:extLst>
          </p:cNvPr>
          <p:cNvSpPr txBox="1">
            <a:spLocks/>
          </p:cNvSpPr>
          <p:nvPr/>
        </p:nvSpPr>
        <p:spPr>
          <a:xfrm>
            <a:off x="9278366" y="7594753"/>
            <a:ext cx="2748619" cy="21512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Integration of Complementary Systems</a:t>
            </a:r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339CA60F-078E-4882-2CFE-CC439650A4CD}"/>
              </a:ext>
            </a:extLst>
          </p:cNvPr>
          <p:cNvSpPr txBox="1">
            <a:spLocks/>
          </p:cNvSpPr>
          <p:nvPr/>
        </p:nvSpPr>
        <p:spPr>
          <a:xfrm flipH="1">
            <a:off x="1056535" y="7594753"/>
            <a:ext cx="2486652" cy="501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Accessibility </a:t>
            </a:r>
          </a:p>
          <a:p>
            <a:pPr algn="l"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through Defined Taxonomies</a:t>
            </a:r>
          </a:p>
        </p:txBody>
      </p:sp>
      <p:sp>
        <p:nvSpPr>
          <p:cNvPr id="21" name="Footer Placeholder">
            <a:extLst>
              <a:ext uri="{FF2B5EF4-FFF2-40B4-BE49-F238E27FC236}">
                <a16:creationId xmlns:a16="http://schemas.microsoft.com/office/drawing/2014/main" id="{7AF2C8A5-308F-F996-E565-B559C19D0551}"/>
              </a:ext>
            </a:extLst>
          </p:cNvPr>
          <p:cNvSpPr txBox="1">
            <a:spLocks/>
          </p:cNvSpPr>
          <p:nvPr/>
        </p:nvSpPr>
        <p:spPr>
          <a:xfrm flipH="1">
            <a:off x="9299601" y="4599233"/>
            <a:ext cx="2450656" cy="501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Embedded Complaince Checking</a:t>
            </a:r>
          </a:p>
        </p:txBody>
      </p:sp>
      <p:sp>
        <p:nvSpPr>
          <p:cNvPr id="22" name="Footer Placeholder">
            <a:extLst>
              <a:ext uri="{FF2B5EF4-FFF2-40B4-BE49-F238E27FC236}">
                <a16:creationId xmlns:a16="http://schemas.microsoft.com/office/drawing/2014/main" id="{17F049FC-48FD-4FE7-3055-FE1D8AB7FE58}"/>
              </a:ext>
            </a:extLst>
          </p:cNvPr>
          <p:cNvSpPr txBox="1">
            <a:spLocks/>
          </p:cNvSpPr>
          <p:nvPr/>
        </p:nvSpPr>
        <p:spPr>
          <a:xfrm>
            <a:off x="1256694" y="4843923"/>
            <a:ext cx="2160431" cy="2172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Data Ask Standardization</a:t>
            </a:r>
          </a:p>
        </p:txBody>
      </p:sp>
      <p:sp>
        <p:nvSpPr>
          <p:cNvPr id="23" name="Footer Placeholder">
            <a:extLst>
              <a:ext uri="{FF2B5EF4-FFF2-40B4-BE49-F238E27FC236}">
                <a16:creationId xmlns:a16="http://schemas.microsoft.com/office/drawing/2014/main" id="{236B85D6-2B3A-79A7-2A8F-260EB80E47A2}"/>
              </a:ext>
            </a:extLst>
          </p:cNvPr>
          <p:cNvSpPr txBox="1">
            <a:spLocks/>
          </p:cNvSpPr>
          <p:nvPr/>
        </p:nvSpPr>
        <p:spPr>
          <a:xfrm flipH="1">
            <a:off x="5167452" y="1097280"/>
            <a:ext cx="2486652" cy="50154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Standards Alignment</a:t>
            </a:r>
          </a:p>
        </p:txBody>
      </p:sp>
      <p:sp>
        <p:nvSpPr>
          <p:cNvPr id="24" name="Footer Placeholder">
            <a:extLst>
              <a:ext uri="{FF2B5EF4-FFF2-40B4-BE49-F238E27FC236}">
                <a16:creationId xmlns:a16="http://schemas.microsoft.com/office/drawing/2014/main" id="{15A54783-4D3E-9FF3-26A1-A17E558F75F5}"/>
              </a:ext>
            </a:extLst>
          </p:cNvPr>
          <p:cNvSpPr txBox="1">
            <a:spLocks/>
          </p:cNvSpPr>
          <p:nvPr/>
        </p:nvSpPr>
        <p:spPr>
          <a:xfrm flipH="1">
            <a:off x="3783769" y="8284834"/>
            <a:ext cx="5254011" cy="37148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Consistent Schemas &amp; Exchange Formats</a:t>
            </a:r>
          </a:p>
        </p:txBody>
      </p:sp>
      <p:sp>
        <p:nvSpPr>
          <p:cNvPr id="25" name="Footer Placeholder">
            <a:extLst>
              <a:ext uri="{FF2B5EF4-FFF2-40B4-BE49-F238E27FC236}">
                <a16:creationId xmlns:a16="http://schemas.microsoft.com/office/drawing/2014/main" id="{B773A389-93D1-DEE0-5FCC-F538CA5CEE37}"/>
              </a:ext>
            </a:extLst>
          </p:cNvPr>
          <p:cNvSpPr txBox="1">
            <a:spLocks/>
          </p:cNvSpPr>
          <p:nvPr/>
        </p:nvSpPr>
        <p:spPr>
          <a:xfrm>
            <a:off x="4458624" y="3916182"/>
            <a:ext cx="3973159" cy="30142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sv-SE" sz="18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</a:rPr>
              <a:t>Integrated Interoperability Goverance</a:t>
            </a:r>
          </a:p>
        </p:txBody>
      </p:sp>
    </p:spTree>
    <p:extLst>
      <p:ext uri="{BB962C8B-B14F-4D97-AF65-F5344CB8AC3E}">
        <p14:creationId xmlns:p14="http://schemas.microsoft.com/office/powerpoint/2010/main" val="204623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F705C-4A41-12C0-BBEF-4C7132FBF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ACE143C-E0F4-083D-0FA2-77814BF8F2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138907"/>
              </p:ext>
            </p:extLst>
          </p:nvPr>
        </p:nvGraphicFramePr>
        <p:xfrm>
          <a:off x="1345984" y="198120"/>
          <a:ext cx="9682951" cy="6903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9FF167A9-6F68-C955-9363-B87D5BF20B51}"/>
              </a:ext>
            </a:extLst>
          </p:cNvPr>
          <p:cNvSpPr/>
          <p:nvPr/>
        </p:nvSpPr>
        <p:spPr>
          <a:xfrm>
            <a:off x="5107445" y="2569816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5BAFAF7-B382-8B5D-FAF1-39A20719E08E}"/>
              </a:ext>
            </a:extLst>
          </p:cNvPr>
          <p:cNvSpPr/>
          <p:nvPr/>
        </p:nvSpPr>
        <p:spPr>
          <a:xfrm>
            <a:off x="4567447" y="2029812"/>
            <a:ext cx="3240000" cy="3240000"/>
          </a:xfrm>
          <a:prstGeom prst="ellipse">
            <a:avLst/>
          </a:pr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437CC08-83B3-D8CB-744D-18EE66A9A202}"/>
              </a:ext>
            </a:extLst>
          </p:cNvPr>
          <p:cNvSpPr/>
          <p:nvPr/>
        </p:nvSpPr>
        <p:spPr>
          <a:xfrm>
            <a:off x="4027438" y="1489809"/>
            <a:ext cx="4320000" cy="4320000"/>
          </a:xfrm>
          <a:prstGeom prst="ellipse">
            <a:avLst/>
          </a:pr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4E8267-96F3-64D3-16D2-E640FE59D69E}"/>
              </a:ext>
            </a:extLst>
          </p:cNvPr>
          <p:cNvSpPr/>
          <p:nvPr/>
        </p:nvSpPr>
        <p:spPr>
          <a:xfrm>
            <a:off x="3487452" y="949819"/>
            <a:ext cx="5400000" cy="5400000"/>
          </a:xfrm>
          <a:prstGeom prst="ellipse">
            <a:avLst/>
          </a:prstGeom>
          <a:noFill/>
          <a:ln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BD2E8D-C468-89FE-FC68-7B53B7C331BA}"/>
              </a:ext>
            </a:extLst>
          </p:cNvPr>
          <p:cNvSpPr/>
          <p:nvPr/>
        </p:nvSpPr>
        <p:spPr>
          <a:xfrm>
            <a:off x="8735713" y="282211"/>
            <a:ext cx="3241209" cy="323760"/>
          </a:xfrm>
          <a:prstGeom prst="roundRect">
            <a:avLst/>
          </a:prstGeom>
          <a:solidFill>
            <a:srgbClr val="70B3AE"/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Shared Strategic Vision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4844133-7547-D217-60E5-BB3EFD55F00A}"/>
              </a:ext>
            </a:extLst>
          </p:cNvPr>
          <p:cNvSpPr/>
          <p:nvPr/>
        </p:nvSpPr>
        <p:spPr>
          <a:xfrm>
            <a:off x="6905325" y="2279460"/>
            <a:ext cx="540002" cy="360000"/>
          </a:xfrm>
          <a:prstGeom prst="ellipse">
            <a:avLst/>
          </a:prstGeom>
          <a:solidFill>
            <a:srgbClr val="70B3AE"/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A52D566-3420-7824-1196-2C8AE02FFCC5}"/>
              </a:ext>
            </a:extLst>
          </p:cNvPr>
          <p:cNvSpPr/>
          <p:nvPr/>
        </p:nvSpPr>
        <p:spPr>
          <a:xfrm>
            <a:off x="7807455" y="2279460"/>
            <a:ext cx="540002" cy="360000"/>
          </a:xfrm>
          <a:prstGeom prst="ellipse">
            <a:avLst/>
          </a:prstGeom>
          <a:solidFill>
            <a:srgbClr val="70B3AE"/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4396F06-F6C7-66ED-9976-6FC2D070C41A}"/>
              </a:ext>
            </a:extLst>
          </p:cNvPr>
          <p:cNvSpPr/>
          <p:nvPr/>
        </p:nvSpPr>
        <p:spPr>
          <a:xfrm>
            <a:off x="8011448" y="1763983"/>
            <a:ext cx="540002" cy="360000"/>
          </a:xfrm>
          <a:prstGeom prst="ellipse">
            <a:avLst/>
          </a:prstGeom>
          <a:solidFill>
            <a:srgbClr val="70B3AE"/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269C0EE-004D-C61A-904A-DFA17E5F4B03}"/>
              </a:ext>
            </a:extLst>
          </p:cNvPr>
          <p:cNvSpPr/>
          <p:nvPr/>
        </p:nvSpPr>
        <p:spPr>
          <a:xfrm>
            <a:off x="8270861" y="4972225"/>
            <a:ext cx="540002" cy="360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E3F4B51-57CE-0319-0A57-2B6CF012ADD9}"/>
              </a:ext>
            </a:extLst>
          </p:cNvPr>
          <p:cNvSpPr/>
          <p:nvPr/>
        </p:nvSpPr>
        <p:spPr>
          <a:xfrm>
            <a:off x="7855992" y="4463480"/>
            <a:ext cx="540002" cy="360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1736AAD-C383-EA90-2C55-C3E58E66CA7F}"/>
              </a:ext>
            </a:extLst>
          </p:cNvPr>
          <p:cNvSpPr/>
          <p:nvPr/>
        </p:nvSpPr>
        <p:spPr>
          <a:xfrm>
            <a:off x="7170379" y="4437915"/>
            <a:ext cx="540002" cy="360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D67D7B-FAA4-48A5-BAA2-1312E53BCD1D}"/>
              </a:ext>
            </a:extLst>
          </p:cNvPr>
          <p:cNvSpPr/>
          <p:nvPr/>
        </p:nvSpPr>
        <p:spPr>
          <a:xfrm>
            <a:off x="5377453" y="4974847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891645F-B1F0-25D0-03AB-2D9724C23276}"/>
              </a:ext>
            </a:extLst>
          </p:cNvPr>
          <p:cNvSpPr/>
          <p:nvPr/>
        </p:nvSpPr>
        <p:spPr>
          <a:xfrm>
            <a:off x="5188678" y="5481524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229F35A-53A9-0452-9F73-040C09A451AA}"/>
              </a:ext>
            </a:extLst>
          </p:cNvPr>
          <p:cNvSpPr/>
          <p:nvPr/>
        </p:nvSpPr>
        <p:spPr>
          <a:xfrm>
            <a:off x="6646234" y="5481524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E1345AC-0163-BB9F-2CD2-65E7156E5283}"/>
              </a:ext>
            </a:extLst>
          </p:cNvPr>
          <p:cNvSpPr/>
          <p:nvPr/>
        </p:nvSpPr>
        <p:spPr>
          <a:xfrm>
            <a:off x="5301585" y="6154733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C26435-9CAE-1E72-1B8A-07F5FA9B28A5}"/>
              </a:ext>
            </a:extLst>
          </p:cNvPr>
          <p:cNvSpPr/>
          <p:nvPr/>
        </p:nvSpPr>
        <p:spPr>
          <a:xfrm>
            <a:off x="8735713" y="679309"/>
            <a:ext cx="3241209" cy="2394924"/>
          </a:xfrm>
          <a:prstGeom prst="roundRect">
            <a:avLst>
              <a:gd name="adj" fmla="val 9207"/>
            </a:avLst>
          </a:prstGeom>
          <a:solidFill>
            <a:srgbClr val="70B3AE">
              <a:alpha val="25000"/>
            </a:srgbClr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Convene key stakeholders to articulate a shared purpose.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Establish a formal vision statement and cross-sector leadership commitment.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Align national and sector strategies to the shared vision.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Embed vision in regulation, funding criteria, and leadership roles.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Regularly review and update the vision through sector dialogue.</a:t>
            </a:r>
            <a:endParaRPr lang="en-GB" sz="1200" dirty="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73FFBD9-B2E8-425D-8FEF-29F929278100}"/>
              </a:ext>
            </a:extLst>
          </p:cNvPr>
          <p:cNvSpPr/>
          <p:nvPr/>
        </p:nvSpPr>
        <p:spPr>
          <a:xfrm>
            <a:off x="8735713" y="5482661"/>
            <a:ext cx="3241209" cy="32376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Aligned Standards and Requirements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65085D7-C4C0-7BC9-4327-460610D98BB3}"/>
              </a:ext>
            </a:extLst>
          </p:cNvPr>
          <p:cNvSpPr/>
          <p:nvPr/>
        </p:nvSpPr>
        <p:spPr>
          <a:xfrm>
            <a:off x="8735713" y="5898216"/>
            <a:ext cx="3241209" cy="1771515"/>
          </a:xfrm>
          <a:prstGeom prst="roundRect">
            <a:avLst/>
          </a:prstGeom>
          <a:solidFill>
            <a:schemeClr val="accent1">
              <a:alpha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Map existing standards.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Identify overlaps and gaps.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Developed a simplified information requirements and datapoints.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Machine readable standards. 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200" dirty="0" err="1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Institutionalise</a:t>
            </a: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 common frameworks across policies.</a:t>
            </a:r>
          </a:p>
          <a:p>
            <a:pPr marL="342900" indent="-342900">
              <a:buFont typeface="+mj-lt"/>
              <a:buAutoNum type="arabicPeriod" startAt="6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Automate compliance checking.</a:t>
            </a:r>
            <a:endParaRPr lang="en-GB" sz="1200" dirty="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A1173E5-0F70-CCB2-9A8E-297CE1E23846}"/>
              </a:ext>
            </a:extLst>
          </p:cNvPr>
          <p:cNvSpPr/>
          <p:nvPr/>
        </p:nvSpPr>
        <p:spPr>
          <a:xfrm>
            <a:off x="4566250" y="6898073"/>
            <a:ext cx="3241209" cy="323760"/>
          </a:xfrm>
          <a:prstGeom prst="roundRect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Integrated System Architecture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F121F67-67D6-2AF6-F524-C7DA8A4E2EB4}"/>
              </a:ext>
            </a:extLst>
          </p:cNvPr>
          <p:cNvSpPr/>
          <p:nvPr/>
        </p:nvSpPr>
        <p:spPr>
          <a:xfrm>
            <a:off x="3940231" y="7313249"/>
            <a:ext cx="4483742" cy="2293566"/>
          </a:xfrm>
          <a:prstGeom prst="roundRect">
            <a:avLst>
              <a:gd name="adj" fmla="val 6785"/>
            </a:avLst>
          </a:prstGeom>
          <a:solidFill>
            <a:srgbClr val="8C9CAC">
              <a:alpha val="25000"/>
            </a:srgbClr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Identify current systems, solutions and data silos.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Promote system of systems and decentralised solutions.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Map existing ontologies and solutions and reuse them.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Develop modular APIs based on the common vocabulary from standards and ontologies.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Launch pilots for federated platforms.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Scale system interoperability across the sector (Including DBL, DBP and DPP).</a:t>
            </a:r>
          </a:p>
          <a:p>
            <a:pPr marL="342900" indent="-342900">
              <a:buFont typeface="+mj-lt"/>
              <a:buAutoNum type="arabicPeriod" startAt="12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Maintain and update the integrated architecture collaboratively.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78DBDBC-0071-1816-056F-9423EF319C40}"/>
              </a:ext>
            </a:extLst>
          </p:cNvPr>
          <p:cNvSpPr/>
          <p:nvPr/>
        </p:nvSpPr>
        <p:spPr>
          <a:xfrm>
            <a:off x="209984" y="5111127"/>
            <a:ext cx="3241209" cy="323760"/>
          </a:xfrm>
          <a:prstGeom prst="roundRect">
            <a:avLst/>
          </a:prstGeom>
          <a:solidFill>
            <a:srgbClr val="427E84"/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Organisational and Human Capability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719D785-4721-137B-9A64-9B37DDE54091}"/>
              </a:ext>
            </a:extLst>
          </p:cNvPr>
          <p:cNvSpPr/>
          <p:nvPr/>
        </p:nvSpPr>
        <p:spPr>
          <a:xfrm>
            <a:off x="228113" y="5500723"/>
            <a:ext cx="3446868" cy="3114220"/>
          </a:xfrm>
          <a:prstGeom prst="roundRect">
            <a:avLst>
              <a:gd name="adj" fmla="val 9449"/>
            </a:avLst>
          </a:prstGeom>
          <a:solidFill>
            <a:srgbClr val="427E84">
              <a:alpha val="25000"/>
            </a:srgbClr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 startAt="19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Build awareness of the value and purpose of data interoperability across roles and sectors.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Deliver targeted training and onboarding for key stakeholder groups.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Create cross-sector peer learning networks and communities of practice.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Embed data skills and literacy into formal education, certification, and procurement processes.</a:t>
            </a:r>
          </a:p>
          <a:p>
            <a:pPr marL="342900" indent="-342900">
              <a:buFont typeface="+mj-lt"/>
              <a:buAutoNum type="arabicPeriod" startAt="19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Establish sustained leadership development and capability-building programmes.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2D85141-8E49-2746-F9F9-C71736E1E237}"/>
              </a:ext>
            </a:extLst>
          </p:cNvPr>
          <p:cNvSpPr/>
          <p:nvPr/>
        </p:nvSpPr>
        <p:spPr>
          <a:xfrm>
            <a:off x="398000" y="949809"/>
            <a:ext cx="3241209" cy="3336356"/>
          </a:xfrm>
          <a:prstGeom prst="roundRect">
            <a:avLst>
              <a:gd name="adj" fmla="val 10466"/>
            </a:avLst>
          </a:prstGeom>
          <a:solidFill>
            <a:srgbClr val="FFD700">
              <a:alpha val="25000"/>
            </a:srgbClr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+mj-lt"/>
              <a:buAutoNum type="arabicPeriod" startAt="24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Build and communicate the business case for interoperability.</a:t>
            </a:r>
          </a:p>
          <a:p>
            <a:pPr marL="342900" indent="-342900">
              <a:buFont typeface="+mj-lt"/>
              <a:buAutoNum type="arabicPeriod" startAt="24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Identify opportunities for early ROI demonstration and quick wins.</a:t>
            </a:r>
          </a:p>
          <a:p>
            <a:pPr marL="342900" indent="-342900">
              <a:buFont typeface="+mj-lt"/>
              <a:buAutoNum type="arabicPeriod" startAt="24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Link incentives to adoption of standards and validated outcomes.</a:t>
            </a:r>
          </a:p>
          <a:p>
            <a:pPr marL="342900" indent="-342900">
              <a:buFont typeface="+mj-lt"/>
              <a:buAutoNum type="arabicPeriod" startAt="24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Define ownership and data-sharing terms in contracts.</a:t>
            </a:r>
          </a:p>
          <a:p>
            <a:pPr marL="342900" indent="-342900">
              <a:buFont typeface="+mj-lt"/>
              <a:buAutoNum type="arabicPeriod" startAt="24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Institutionalise outcome-based funding and insurance models.</a:t>
            </a:r>
          </a:p>
          <a:p>
            <a:pPr marL="342900" indent="-342900">
              <a:buFont typeface="+mj-lt"/>
              <a:buAutoNum type="arabicPeriod" startAt="24"/>
            </a:pPr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Monitor and publish impact to reinforce value realisation.</a:t>
            </a:r>
          </a:p>
          <a:p>
            <a:pPr marL="342900" indent="-342900">
              <a:buFont typeface="+mj-lt"/>
              <a:buAutoNum type="arabicPeriod" startAt="24"/>
            </a:pPr>
            <a:r>
              <a:rPr lang="en-US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Establish mechanisms to include high-quality data as an asset, reinforcing its financial and strategic value.</a:t>
            </a:r>
            <a:endParaRPr lang="en-GB" sz="1200" dirty="0">
              <a:solidFill>
                <a:schemeClr val="tx1"/>
              </a:solidFill>
              <a:latin typeface="Inter 18pt" panose="02000503000000020004" pitchFamily="2" charset="0"/>
              <a:ea typeface="Inter 18p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413342A-027F-674A-DDBD-2E6EEC5CC454}"/>
              </a:ext>
            </a:extLst>
          </p:cNvPr>
          <p:cNvSpPr/>
          <p:nvPr/>
        </p:nvSpPr>
        <p:spPr>
          <a:xfrm>
            <a:off x="398000" y="530533"/>
            <a:ext cx="3241209" cy="32376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Incentives and Value Realisation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3F944CD-B1F0-5954-72D1-91396A79148C}"/>
              </a:ext>
            </a:extLst>
          </p:cNvPr>
          <p:cNvSpPr/>
          <p:nvPr/>
        </p:nvSpPr>
        <p:spPr>
          <a:xfrm>
            <a:off x="6520148" y="818861"/>
            <a:ext cx="540002" cy="360000"/>
          </a:xfrm>
          <a:prstGeom prst="ellipse">
            <a:avLst/>
          </a:prstGeom>
          <a:solidFill>
            <a:srgbClr val="70B3AE"/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AE4132B-FA53-0D10-2747-A816E5D3EED2}"/>
              </a:ext>
            </a:extLst>
          </p:cNvPr>
          <p:cNvSpPr/>
          <p:nvPr/>
        </p:nvSpPr>
        <p:spPr>
          <a:xfrm>
            <a:off x="7096116" y="1632171"/>
            <a:ext cx="540002" cy="360000"/>
          </a:xfrm>
          <a:prstGeom prst="ellipse">
            <a:avLst/>
          </a:prstGeom>
          <a:solidFill>
            <a:srgbClr val="70B3AE"/>
          </a:solidFill>
          <a:ln>
            <a:solidFill>
              <a:srgbClr val="70B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8EF8398-ED7F-481E-CF05-3ED6040F8D72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7445322" y="2459451"/>
            <a:ext cx="362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9E17138-5B84-E1F4-65F3-19B0EC35AA90}"/>
              </a:ext>
            </a:extLst>
          </p:cNvPr>
          <p:cNvCxnSpPr>
            <a:cxnSpLocks/>
            <a:stCxn id="31" idx="1"/>
            <a:endCxn id="50" idx="5"/>
          </p:cNvCxnSpPr>
          <p:nvPr/>
        </p:nvCxnSpPr>
        <p:spPr>
          <a:xfrm flipH="1" flipV="1">
            <a:off x="7557039" y="1939466"/>
            <a:ext cx="329499" cy="392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D4EFE92-540A-39EF-7D18-E1AEAC43CFFF}"/>
              </a:ext>
            </a:extLst>
          </p:cNvPr>
          <p:cNvCxnSpPr>
            <a:cxnSpLocks/>
            <a:stCxn id="50" idx="6"/>
            <a:endCxn id="32" idx="2"/>
          </p:cNvCxnSpPr>
          <p:nvPr/>
        </p:nvCxnSpPr>
        <p:spPr>
          <a:xfrm>
            <a:off x="7636113" y="1812179"/>
            <a:ext cx="375330" cy="131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A046050-EC95-2691-6033-A7B2E44B67B5}"/>
              </a:ext>
            </a:extLst>
          </p:cNvPr>
          <p:cNvCxnSpPr>
            <a:cxnSpLocks/>
            <a:stCxn id="32" idx="1"/>
            <a:endCxn id="49" idx="5"/>
          </p:cNvCxnSpPr>
          <p:nvPr/>
        </p:nvCxnSpPr>
        <p:spPr>
          <a:xfrm flipH="1" flipV="1">
            <a:off x="6981067" y="1126142"/>
            <a:ext cx="1109461" cy="690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71B667B-69AF-BF46-254F-BCD83522D6F3}"/>
              </a:ext>
            </a:extLst>
          </p:cNvPr>
          <p:cNvCxnSpPr>
            <a:cxnSpLocks/>
            <a:stCxn id="49" idx="4"/>
            <a:endCxn id="50" idx="1"/>
          </p:cNvCxnSpPr>
          <p:nvPr/>
        </p:nvCxnSpPr>
        <p:spPr>
          <a:xfrm>
            <a:off x="6790153" y="1178868"/>
            <a:ext cx="385051" cy="506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03A2E4DA-4F48-523A-3590-F037662CEA32}"/>
              </a:ext>
            </a:extLst>
          </p:cNvPr>
          <p:cNvSpPr/>
          <p:nvPr/>
        </p:nvSpPr>
        <p:spPr>
          <a:xfrm>
            <a:off x="7494097" y="3551835"/>
            <a:ext cx="540002" cy="360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A66E41E-B61C-58AC-5148-43E5EE2D9626}"/>
              </a:ext>
            </a:extLst>
          </p:cNvPr>
          <p:cNvSpPr/>
          <p:nvPr/>
        </p:nvSpPr>
        <p:spPr>
          <a:xfrm>
            <a:off x="8754922" y="3518664"/>
            <a:ext cx="540002" cy="360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703CDF7-4C3E-083B-D977-1E99DB92977F}"/>
              </a:ext>
            </a:extLst>
          </p:cNvPr>
          <p:cNvSpPr/>
          <p:nvPr/>
        </p:nvSpPr>
        <p:spPr>
          <a:xfrm>
            <a:off x="8068195" y="3913396"/>
            <a:ext cx="540002" cy="360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9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2E4498F-DE03-3E3D-9A93-625C16752660}"/>
              </a:ext>
            </a:extLst>
          </p:cNvPr>
          <p:cNvCxnSpPr>
            <a:cxnSpLocks/>
            <a:stCxn id="56" idx="4"/>
            <a:endCxn id="35" idx="0"/>
          </p:cNvCxnSpPr>
          <p:nvPr/>
        </p:nvCxnSpPr>
        <p:spPr>
          <a:xfrm flipH="1">
            <a:off x="7440376" y="3911838"/>
            <a:ext cx="323717" cy="526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93292E3-9DBE-C286-E26B-DD045F9F15A2}"/>
              </a:ext>
            </a:extLst>
          </p:cNvPr>
          <p:cNvCxnSpPr>
            <a:cxnSpLocks/>
            <a:stCxn id="56" idx="5"/>
            <a:endCxn id="34" idx="0"/>
          </p:cNvCxnSpPr>
          <p:nvPr/>
        </p:nvCxnSpPr>
        <p:spPr>
          <a:xfrm>
            <a:off x="7955018" y="3859117"/>
            <a:ext cx="170978" cy="604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0D18A1-7EDA-109A-E9AD-EB0231873BD2}"/>
              </a:ext>
            </a:extLst>
          </p:cNvPr>
          <p:cNvCxnSpPr>
            <a:cxnSpLocks/>
            <a:stCxn id="34" idx="7"/>
            <a:endCxn id="58" idx="4"/>
          </p:cNvCxnSpPr>
          <p:nvPr/>
        </p:nvCxnSpPr>
        <p:spPr>
          <a:xfrm flipV="1">
            <a:off x="8316902" y="4273404"/>
            <a:ext cx="21282" cy="24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FAEAB45-79BB-4675-2F8D-379E8D422FFD}"/>
              </a:ext>
            </a:extLst>
          </p:cNvPr>
          <p:cNvCxnSpPr>
            <a:cxnSpLocks/>
            <a:stCxn id="56" idx="6"/>
            <a:endCxn id="58" idx="0"/>
          </p:cNvCxnSpPr>
          <p:nvPr/>
        </p:nvCxnSpPr>
        <p:spPr>
          <a:xfrm>
            <a:off x="8034097" y="3731845"/>
            <a:ext cx="304098" cy="18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62DD3B2-884B-6824-542E-77C0F3717814}"/>
              </a:ext>
            </a:extLst>
          </p:cNvPr>
          <p:cNvCxnSpPr>
            <a:cxnSpLocks/>
            <a:stCxn id="58" idx="7"/>
            <a:endCxn id="57" idx="3"/>
          </p:cNvCxnSpPr>
          <p:nvPr/>
        </p:nvCxnSpPr>
        <p:spPr>
          <a:xfrm flipV="1">
            <a:off x="8529115" y="3825950"/>
            <a:ext cx="304891" cy="140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C90A2A5-6A2B-5D08-A450-C7AF65550B1F}"/>
              </a:ext>
            </a:extLst>
          </p:cNvPr>
          <p:cNvCxnSpPr>
            <a:cxnSpLocks/>
            <a:stCxn id="34" idx="4"/>
            <a:endCxn id="33" idx="1"/>
          </p:cNvCxnSpPr>
          <p:nvPr/>
        </p:nvCxnSpPr>
        <p:spPr>
          <a:xfrm>
            <a:off x="8125984" y="4823492"/>
            <a:ext cx="223950" cy="201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ABB6FEB-8614-4598-3A3E-25E000197D1C}"/>
              </a:ext>
            </a:extLst>
          </p:cNvPr>
          <p:cNvCxnSpPr>
            <a:cxnSpLocks/>
            <a:stCxn id="35" idx="5"/>
            <a:endCxn id="33" idx="2"/>
          </p:cNvCxnSpPr>
          <p:nvPr/>
        </p:nvCxnSpPr>
        <p:spPr>
          <a:xfrm>
            <a:off x="7631285" y="4745203"/>
            <a:ext cx="639564" cy="407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4F20CF79-8F9A-01B8-7574-BB99D9879E74}"/>
              </a:ext>
            </a:extLst>
          </p:cNvPr>
          <p:cNvSpPr/>
          <p:nvPr/>
        </p:nvSpPr>
        <p:spPr>
          <a:xfrm>
            <a:off x="6457453" y="4953140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AFA75B4-B31C-76B8-273C-D1B5BE1D60B8}"/>
              </a:ext>
            </a:extLst>
          </p:cNvPr>
          <p:cNvSpPr/>
          <p:nvPr/>
        </p:nvSpPr>
        <p:spPr>
          <a:xfrm>
            <a:off x="6363448" y="6169039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FAC100C-79A7-9B5F-6D5E-030C8495AD8F}"/>
              </a:ext>
            </a:extLst>
          </p:cNvPr>
          <p:cNvSpPr/>
          <p:nvPr/>
        </p:nvSpPr>
        <p:spPr>
          <a:xfrm>
            <a:off x="5912109" y="5545332"/>
            <a:ext cx="540002" cy="360000"/>
          </a:xfrm>
          <a:prstGeom prst="ellipse">
            <a:avLst/>
          </a:prstGeom>
          <a:solidFill>
            <a:srgbClr val="8C9CAC"/>
          </a:solidFill>
          <a:ln>
            <a:solidFill>
              <a:srgbClr val="8C9C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14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FDF0737-5FF6-D330-E89E-F7BFBCB81E44}"/>
              </a:ext>
            </a:extLst>
          </p:cNvPr>
          <p:cNvCxnSpPr>
            <a:cxnSpLocks/>
            <a:stCxn id="66" idx="3"/>
            <a:endCxn id="68" idx="7"/>
          </p:cNvCxnSpPr>
          <p:nvPr/>
        </p:nvCxnSpPr>
        <p:spPr>
          <a:xfrm flipH="1">
            <a:off x="6373021" y="5260432"/>
            <a:ext cx="163508" cy="337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9A67E14-C8F8-7750-FC8A-36A293DA26F3}"/>
              </a:ext>
            </a:extLst>
          </p:cNvPr>
          <p:cNvCxnSpPr>
            <a:cxnSpLocks/>
            <a:stCxn id="36" idx="5"/>
            <a:endCxn id="68" idx="1"/>
          </p:cNvCxnSpPr>
          <p:nvPr/>
        </p:nvCxnSpPr>
        <p:spPr>
          <a:xfrm>
            <a:off x="5838376" y="5282138"/>
            <a:ext cx="152816" cy="315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EA8831A-35BA-CFBD-78AB-BA7BB518EF45}"/>
              </a:ext>
            </a:extLst>
          </p:cNvPr>
          <p:cNvCxnSpPr>
            <a:cxnSpLocks/>
            <a:stCxn id="68" idx="2"/>
            <a:endCxn id="37" idx="6"/>
          </p:cNvCxnSpPr>
          <p:nvPr/>
        </p:nvCxnSpPr>
        <p:spPr>
          <a:xfrm flipH="1" flipV="1">
            <a:off x="5728676" y="5661529"/>
            <a:ext cx="183429" cy="6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E52FA3B-9F90-6745-E628-5D05E062361E}"/>
              </a:ext>
            </a:extLst>
          </p:cNvPr>
          <p:cNvCxnSpPr>
            <a:cxnSpLocks/>
            <a:stCxn id="68" idx="6"/>
            <a:endCxn id="38" idx="2"/>
          </p:cNvCxnSpPr>
          <p:nvPr/>
        </p:nvCxnSpPr>
        <p:spPr>
          <a:xfrm flipV="1">
            <a:off x="6452103" y="5661529"/>
            <a:ext cx="194126" cy="6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A501D5C-0262-8FDD-ADAB-7502A4998487}"/>
              </a:ext>
            </a:extLst>
          </p:cNvPr>
          <p:cNvCxnSpPr>
            <a:cxnSpLocks/>
            <a:stCxn id="37" idx="5"/>
            <a:endCxn id="38" idx="3"/>
          </p:cNvCxnSpPr>
          <p:nvPr/>
        </p:nvCxnSpPr>
        <p:spPr>
          <a:xfrm>
            <a:off x="5649599" y="5788795"/>
            <a:ext cx="10757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12ED52B-0E45-0AC1-E6B7-69DDD9042BF0}"/>
              </a:ext>
            </a:extLst>
          </p:cNvPr>
          <p:cNvCxnSpPr>
            <a:cxnSpLocks/>
            <a:stCxn id="38" idx="4"/>
            <a:endCxn id="67" idx="7"/>
          </p:cNvCxnSpPr>
          <p:nvPr/>
        </p:nvCxnSpPr>
        <p:spPr>
          <a:xfrm flipH="1">
            <a:off x="6824363" y="5841522"/>
            <a:ext cx="91867" cy="380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7ACF30E-0938-7EAA-9F75-3C3DAE07C86D}"/>
              </a:ext>
            </a:extLst>
          </p:cNvPr>
          <p:cNvCxnSpPr>
            <a:cxnSpLocks/>
            <a:stCxn id="68" idx="5"/>
            <a:endCxn id="67" idx="0"/>
          </p:cNvCxnSpPr>
          <p:nvPr/>
        </p:nvCxnSpPr>
        <p:spPr>
          <a:xfrm>
            <a:off x="6373030" y="5852612"/>
            <a:ext cx="260421" cy="316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8B1261D-274C-2E7B-1638-4478BCA1CDD7}"/>
              </a:ext>
            </a:extLst>
          </p:cNvPr>
          <p:cNvCxnSpPr>
            <a:cxnSpLocks/>
            <a:stCxn id="37" idx="5"/>
            <a:endCxn id="67" idx="1"/>
          </p:cNvCxnSpPr>
          <p:nvPr/>
        </p:nvCxnSpPr>
        <p:spPr>
          <a:xfrm>
            <a:off x="5649586" y="5788805"/>
            <a:ext cx="792932" cy="432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114FC5F-A397-944E-B597-7099349CF10D}"/>
              </a:ext>
            </a:extLst>
          </p:cNvPr>
          <p:cNvCxnSpPr>
            <a:cxnSpLocks/>
            <a:stCxn id="67" idx="3"/>
            <a:endCxn id="39" idx="5"/>
          </p:cNvCxnSpPr>
          <p:nvPr/>
        </p:nvCxnSpPr>
        <p:spPr>
          <a:xfrm flipH="1" flipV="1">
            <a:off x="5762500" y="6462015"/>
            <a:ext cx="680028" cy="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A09F73E-A4E8-455C-1FE5-5807E43A8F08}"/>
              </a:ext>
            </a:extLst>
          </p:cNvPr>
          <p:cNvCxnSpPr>
            <a:cxnSpLocks/>
            <a:stCxn id="39" idx="0"/>
            <a:endCxn id="68" idx="4"/>
          </p:cNvCxnSpPr>
          <p:nvPr/>
        </p:nvCxnSpPr>
        <p:spPr>
          <a:xfrm flipV="1">
            <a:off x="5571576" y="5905342"/>
            <a:ext cx="610526" cy="249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7BB6506E-D3A9-45AE-FF38-F503525012D3}"/>
              </a:ext>
            </a:extLst>
          </p:cNvPr>
          <p:cNvSpPr/>
          <p:nvPr/>
        </p:nvSpPr>
        <p:spPr>
          <a:xfrm>
            <a:off x="4385796" y="4061128"/>
            <a:ext cx="540002" cy="360000"/>
          </a:xfrm>
          <a:prstGeom prst="ellipse">
            <a:avLst/>
          </a:prstGeom>
          <a:solidFill>
            <a:srgbClr val="427E84"/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19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BCB2DFA-EC68-9A4B-75AE-86D329BAD664}"/>
              </a:ext>
            </a:extLst>
          </p:cNvPr>
          <p:cNvSpPr/>
          <p:nvPr/>
        </p:nvSpPr>
        <p:spPr>
          <a:xfrm>
            <a:off x="3765571" y="3289816"/>
            <a:ext cx="540002" cy="360000"/>
          </a:xfrm>
          <a:prstGeom prst="ellipse">
            <a:avLst/>
          </a:prstGeom>
          <a:solidFill>
            <a:srgbClr val="427E84"/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F3A1627-329F-B70D-64E6-64619D3D1FC8}"/>
              </a:ext>
            </a:extLst>
          </p:cNvPr>
          <p:cNvSpPr/>
          <p:nvPr/>
        </p:nvSpPr>
        <p:spPr>
          <a:xfrm>
            <a:off x="4315978" y="4883457"/>
            <a:ext cx="540002" cy="360000"/>
          </a:xfrm>
          <a:prstGeom prst="ellipse">
            <a:avLst/>
          </a:prstGeom>
          <a:solidFill>
            <a:srgbClr val="427E84"/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D9B1E17-33FF-DC23-E040-C2B2D3572DF8}"/>
              </a:ext>
            </a:extLst>
          </p:cNvPr>
          <p:cNvSpPr/>
          <p:nvPr/>
        </p:nvSpPr>
        <p:spPr>
          <a:xfrm>
            <a:off x="3705581" y="5095402"/>
            <a:ext cx="540002" cy="360000"/>
          </a:xfrm>
          <a:prstGeom prst="ellipse">
            <a:avLst/>
          </a:prstGeom>
          <a:solidFill>
            <a:srgbClr val="427E84"/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482863E-122A-98C1-809B-F52839CF4A58}"/>
              </a:ext>
            </a:extLst>
          </p:cNvPr>
          <p:cNvSpPr/>
          <p:nvPr/>
        </p:nvSpPr>
        <p:spPr>
          <a:xfrm>
            <a:off x="3301983" y="4602381"/>
            <a:ext cx="540002" cy="360000"/>
          </a:xfrm>
          <a:prstGeom prst="ellipse">
            <a:avLst/>
          </a:prstGeom>
          <a:solidFill>
            <a:srgbClr val="427E84"/>
          </a:solidFill>
          <a:ln>
            <a:solidFill>
              <a:srgbClr val="427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23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8DEEA8A-08B1-A84E-B27A-034F63601E8D}"/>
              </a:ext>
            </a:extLst>
          </p:cNvPr>
          <p:cNvCxnSpPr>
            <a:cxnSpLocks/>
            <a:stCxn id="79" idx="4"/>
            <a:endCxn id="81" idx="0"/>
          </p:cNvCxnSpPr>
          <p:nvPr/>
        </p:nvCxnSpPr>
        <p:spPr>
          <a:xfrm flipH="1">
            <a:off x="4585965" y="4421133"/>
            <a:ext cx="69822" cy="462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3DA17DCA-8471-6BEF-340C-62B236C05D7E}"/>
              </a:ext>
            </a:extLst>
          </p:cNvPr>
          <p:cNvCxnSpPr>
            <a:cxnSpLocks/>
            <a:stCxn id="79" idx="1"/>
            <a:endCxn id="80" idx="5"/>
          </p:cNvCxnSpPr>
          <p:nvPr/>
        </p:nvCxnSpPr>
        <p:spPr>
          <a:xfrm flipH="1" flipV="1">
            <a:off x="4226491" y="3597095"/>
            <a:ext cx="238391" cy="516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3DCB2CE-1D54-79AD-32CF-34E5D3F88D3E}"/>
              </a:ext>
            </a:extLst>
          </p:cNvPr>
          <p:cNvCxnSpPr>
            <a:cxnSpLocks/>
            <a:stCxn id="80" idx="2"/>
            <a:endCxn id="83" idx="7"/>
          </p:cNvCxnSpPr>
          <p:nvPr/>
        </p:nvCxnSpPr>
        <p:spPr>
          <a:xfrm flipH="1">
            <a:off x="3762899" y="3469817"/>
            <a:ext cx="2668" cy="1185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B45AD96-7615-9246-AB87-8FD8931D537B}"/>
              </a:ext>
            </a:extLst>
          </p:cNvPr>
          <p:cNvCxnSpPr>
            <a:cxnSpLocks/>
            <a:stCxn id="81" idx="1"/>
            <a:endCxn id="83" idx="6"/>
          </p:cNvCxnSpPr>
          <p:nvPr/>
        </p:nvCxnSpPr>
        <p:spPr>
          <a:xfrm flipH="1" flipV="1">
            <a:off x="3841968" y="4782393"/>
            <a:ext cx="553074" cy="153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020C559-03E7-AF10-F7BC-2E5F6B563DD2}"/>
              </a:ext>
            </a:extLst>
          </p:cNvPr>
          <p:cNvCxnSpPr>
            <a:cxnSpLocks/>
            <a:stCxn id="79" idx="3"/>
            <a:endCxn id="82" idx="7"/>
          </p:cNvCxnSpPr>
          <p:nvPr/>
        </p:nvCxnSpPr>
        <p:spPr>
          <a:xfrm flipH="1">
            <a:off x="4166497" y="4368423"/>
            <a:ext cx="298380" cy="779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0DB65D33-4EAF-487E-9DAF-8628A81BBA3D}"/>
              </a:ext>
            </a:extLst>
          </p:cNvPr>
          <p:cNvSpPr/>
          <p:nvPr/>
        </p:nvSpPr>
        <p:spPr>
          <a:xfrm>
            <a:off x="5415562" y="1982058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24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6A6BB41-263D-4825-39AD-83237A86AF25}"/>
              </a:ext>
            </a:extLst>
          </p:cNvPr>
          <p:cNvSpPr/>
          <p:nvPr/>
        </p:nvSpPr>
        <p:spPr>
          <a:xfrm>
            <a:off x="4655748" y="2511226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25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FA2B9B3-BAC7-339C-3A39-BAFC944CEA3A}"/>
              </a:ext>
            </a:extLst>
          </p:cNvPr>
          <p:cNvSpPr/>
          <p:nvPr/>
        </p:nvSpPr>
        <p:spPr>
          <a:xfrm>
            <a:off x="4363979" y="2017501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27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64168CA-893B-4988-2D80-549618DD551E}"/>
              </a:ext>
            </a:extLst>
          </p:cNvPr>
          <p:cNvSpPr/>
          <p:nvPr/>
        </p:nvSpPr>
        <p:spPr>
          <a:xfrm>
            <a:off x="5055386" y="1465450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26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68B8524-8F31-2C8F-0523-3C69C330C092}"/>
              </a:ext>
            </a:extLst>
          </p:cNvPr>
          <p:cNvSpPr/>
          <p:nvPr/>
        </p:nvSpPr>
        <p:spPr>
          <a:xfrm>
            <a:off x="3772472" y="1722378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29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7E5DE62-1DCD-6669-8E59-369B8635EF67}"/>
              </a:ext>
            </a:extLst>
          </p:cNvPr>
          <p:cNvSpPr/>
          <p:nvPr/>
        </p:nvSpPr>
        <p:spPr>
          <a:xfrm>
            <a:off x="5390026" y="745450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28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23D9039-A061-1C2A-9BD1-BAEFF64B93C7}"/>
              </a:ext>
            </a:extLst>
          </p:cNvPr>
          <p:cNvSpPr/>
          <p:nvPr/>
        </p:nvSpPr>
        <p:spPr>
          <a:xfrm>
            <a:off x="4253912" y="731807"/>
            <a:ext cx="540002" cy="360000"/>
          </a:xfrm>
          <a:prstGeom prst="ellipse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  <a:latin typeface="Inter 18pt" panose="02000503000000020004" pitchFamily="2" charset="0"/>
                <a:ea typeface="Inter 18pt" panose="02000503000000020004" pitchFamily="2" charset="0"/>
                <a:cs typeface="Arial" panose="020B0604020202020204" pitchFamily="34" charset="0"/>
              </a:rPr>
              <a:t>30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75ABA25-A473-5BF8-4C48-DE62F164C4B3}"/>
              </a:ext>
            </a:extLst>
          </p:cNvPr>
          <p:cNvCxnSpPr>
            <a:cxnSpLocks/>
            <a:stCxn id="89" idx="3"/>
            <a:endCxn id="90" idx="7"/>
          </p:cNvCxnSpPr>
          <p:nvPr/>
        </p:nvCxnSpPr>
        <p:spPr>
          <a:xfrm flipH="1">
            <a:off x="5116666" y="2289343"/>
            <a:ext cx="377975" cy="274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799DCBB-1794-BE3D-71B5-7A64C60E381C}"/>
              </a:ext>
            </a:extLst>
          </p:cNvPr>
          <p:cNvCxnSpPr>
            <a:cxnSpLocks/>
            <a:stCxn id="89" idx="0"/>
            <a:endCxn id="92" idx="5"/>
          </p:cNvCxnSpPr>
          <p:nvPr/>
        </p:nvCxnSpPr>
        <p:spPr>
          <a:xfrm flipH="1" flipV="1">
            <a:off x="5516300" y="1772731"/>
            <a:ext cx="169259" cy="209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1384411-59EA-365A-270E-5AEE39916A06}"/>
              </a:ext>
            </a:extLst>
          </p:cNvPr>
          <p:cNvCxnSpPr>
            <a:cxnSpLocks/>
            <a:stCxn id="89" idx="2"/>
            <a:endCxn id="91" idx="6"/>
          </p:cNvCxnSpPr>
          <p:nvPr/>
        </p:nvCxnSpPr>
        <p:spPr>
          <a:xfrm flipH="1">
            <a:off x="4903972" y="2162069"/>
            <a:ext cx="511580" cy="35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7BE283-64DB-FAFA-01C0-627C283DF9B2}"/>
              </a:ext>
            </a:extLst>
          </p:cNvPr>
          <p:cNvCxnSpPr>
            <a:cxnSpLocks/>
            <a:stCxn id="92" idx="0"/>
            <a:endCxn id="94" idx="3"/>
          </p:cNvCxnSpPr>
          <p:nvPr/>
        </p:nvCxnSpPr>
        <p:spPr>
          <a:xfrm flipV="1">
            <a:off x="5325382" y="1052737"/>
            <a:ext cx="143728" cy="412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FA6F76B-3D4A-6B45-6A5C-0CEE8288B0EC}"/>
              </a:ext>
            </a:extLst>
          </p:cNvPr>
          <p:cNvCxnSpPr>
            <a:cxnSpLocks/>
            <a:stCxn id="92" idx="2"/>
            <a:endCxn id="93" idx="7"/>
          </p:cNvCxnSpPr>
          <p:nvPr/>
        </p:nvCxnSpPr>
        <p:spPr>
          <a:xfrm flipH="1">
            <a:off x="4233391" y="1645450"/>
            <a:ext cx="821993" cy="129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ED19854B-87F5-B2CD-07F7-ECEEC64D787F}"/>
              </a:ext>
            </a:extLst>
          </p:cNvPr>
          <p:cNvCxnSpPr>
            <a:cxnSpLocks/>
            <a:stCxn id="91" idx="0"/>
            <a:endCxn id="95" idx="4"/>
          </p:cNvCxnSpPr>
          <p:nvPr/>
        </p:nvCxnSpPr>
        <p:spPr>
          <a:xfrm flipH="1" flipV="1">
            <a:off x="4523910" y="1091818"/>
            <a:ext cx="110071" cy="925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DE189A5-F1B5-34C6-9BCB-1F74F4057AFD}"/>
              </a:ext>
            </a:extLst>
          </p:cNvPr>
          <p:cNvCxnSpPr>
            <a:cxnSpLocks/>
            <a:stCxn id="93" idx="0"/>
            <a:endCxn id="95" idx="3"/>
          </p:cNvCxnSpPr>
          <p:nvPr/>
        </p:nvCxnSpPr>
        <p:spPr>
          <a:xfrm flipV="1">
            <a:off x="4042464" y="1039090"/>
            <a:ext cx="290523" cy="683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1423415-065A-8B9A-23FA-CBE206D9B1CB}"/>
              </a:ext>
            </a:extLst>
          </p:cNvPr>
          <p:cNvCxnSpPr>
            <a:cxnSpLocks/>
            <a:stCxn id="94" idx="2"/>
            <a:endCxn id="95" idx="6"/>
          </p:cNvCxnSpPr>
          <p:nvPr/>
        </p:nvCxnSpPr>
        <p:spPr>
          <a:xfrm flipH="1" flipV="1">
            <a:off x="4793906" y="911806"/>
            <a:ext cx="596116" cy="13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A7CB9F7-B3FC-FBA7-166D-4A65D0326AE3}"/>
              </a:ext>
            </a:extLst>
          </p:cNvPr>
          <p:cNvCxnSpPr>
            <a:cxnSpLocks/>
            <a:stCxn id="30" idx="2"/>
            <a:endCxn id="89" idx="6"/>
          </p:cNvCxnSpPr>
          <p:nvPr/>
        </p:nvCxnSpPr>
        <p:spPr>
          <a:xfrm flipH="1" flipV="1">
            <a:off x="5955553" y="2162067"/>
            <a:ext cx="949765" cy="2974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CA044A5-70CA-E2B5-2F7A-32F224089C1C}"/>
              </a:ext>
            </a:extLst>
          </p:cNvPr>
          <p:cNvCxnSpPr>
            <a:cxnSpLocks/>
            <a:stCxn id="30" idx="3"/>
            <a:endCxn id="79" idx="7"/>
          </p:cNvCxnSpPr>
          <p:nvPr/>
        </p:nvCxnSpPr>
        <p:spPr>
          <a:xfrm flipH="1">
            <a:off x="4846713" y="2586759"/>
            <a:ext cx="2137691" cy="1527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5DA557B-0DE1-3A2B-4AFB-3769E4A79CF7}"/>
              </a:ext>
            </a:extLst>
          </p:cNvPr>
          <p:cNvCxnSpPr>
            <a:cxnSpLocks/>
            <a:stCxn id="79" idx="0"/>
            <a:endCxn id="89" idx="4"/>
          </p:cNvCxnSpPr>
          <p:nvPr/>
        </p:nvCxnSpPr>
        <p:spPr>
          <a:xfrm flipV="1">
            <a:off x="4655791" y="2342068"/>
            <a:ext cx="1029765" cy="1719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F594B8C-44EE-71CB-B1D2-3D3D1E3EC8A2}"/>
              </a:ext>
            </a:extLst>
          </p:cNvPr>
          <p:cNvCxnSpPr>
            <a:cxnSpLocks/>
            <a:stCxn id="68" idx="0"/>
            <a:endCxn id="56" idx="3"/>
          </p:cNvCxnSpPr>
          <p:nvPr/>
        </p:nvCxnSpPr>
        <p:spPr>
          <a:xfrm flipV="1">
            <a:off x="6182099" y="3859128"/>
            <a:ext cx="1391070" cy="168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970F6F5-6942-85B0-08D1-2E42B2D7A10F}"/>
              </a:ext>
            </a:extLst>
          </p:cNvPr>
          <p:cNvCxnSpPr>
            <a:cxnSpLocks/>
            <a:stCxn id="67" idx="6"/>
            <a:endCxn id="57" idx="4"/>
          </p:cNvCxnSpPr>
          <p:nvPr/>
        </p:nvCxnSpPr>
        <p:spPr>
          <a:xfrm flipV="1">
            <a:off x="6903446" y="3878670"/>
            <a:ext cx="2121474" cy="247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9D9505AE-C76F-C23B-4C36-A5AE7DD535CA}"/>
              </a:ext>
            </a:extLst>
          </p:cNvPr>
          <p:cNvCxnSpPr>
            <a:cxnSpLocks/>
            <a:stCxn id="36" idx="1"/>
            <a:endCxn id="80" idx="6"/>
          </p:cNvCxnSpPr>
          <p:nvPr/>
        </p:nvCxnSpPr>
        <p:spPr>
          <a:xfrm flipH="1" flipV="1">
            <a:off x="4305574" y="3469828"/>
            <a:ext cx="1150964" cy="15577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C199E85-91E1-EE7B-08B3-2DD48065826D}"/>
              </a:ext>
            </a:extLst>
          </p:cNvPr>
          <p:cNvCxnSpPr>
            <a:cxnSpLocks/>
            <a:stCxn id="91" idx="4"/>
            <a:endCxn id="67" idx="1"/>
          </p:cNvCxnSpPr>
          <p:nvPr/>
        </p:nvCxnSpPr>
        <p:spPr>
          <a:xfrm>
            <a:off x="4633983" y="2377506"/>
            <a:ext cx="1808549" cy="3844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EC4C702-09ED-E2BB-15CC-1F87EDDB5F45}"/>
              </a:ext>
            </a:extLst>
          </p:cNvPr>
          <p:cNvCxnSpPr>
            <a:cxnSpLocks/>
            <a:stCxn id="34" idx="3"/>
            <a:endCxn id="38" idx="7"/>
          </p:cNvCxnSpPr>
          <p:nvPr/>
        </p:nvCxnSpPr>
        <p:spPr>
          <a:xfrm flipH="1">
            <a:off x="7107147" y="4770758"/>
            <a:ext cx="827918" cy="763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DFA57A6-84E8-35C3-6D13-5BE1A1A3D2B2}"/>
              </a:ext>
            </a:extLst>
          </p:cNvPr>
          <p:cNvCxnSpPr>
            <a:cxnSpLocks/>
            <a:stCxn id="35" idx="1"/>
            <a:endCxn id="89" idx="5"/>
          </p:cNvCxnSpPr>
          <p:nvPr/>
        </p:nvCxnSpPr>
        <p:spPr>
          <a:xfrm flipH="1" flipV="1">
            <a:off x="5876481" y="2289347"/>
            <a:ext cx="1372983" cy="220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92950D7-F8BA-054C-B578-8A7221C80FD7}"/>
              </a:ext>
            </a:extLst>
          </p:cNvPr>
          <p:cNvCxnSpPr>
            <a:cxnSpLocks/>
            <a:stCxn id="30" idx="4"/>
            <a:endCxn id="66" idx="0"/>
          </p:cNvCxnSpPr>
          <p:nvPr/>
        </p:nvCxnSpPr>
        <p:spPr>
          <a:xfrm flipH="1">
            <a:off x="6727444" y="2639465"/>
            <a:ext cx="447872" cy="2313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71F340A-20A9-B45E-509A-FC6E1E509CFD}"/>
              </a:ext>
            </a:extLst>
          </p:cNvPr>
          <p:cNvCxnSpPr>
            <a:cxnSpLocks/>
            <a:stCxn id="90" idx="5"/>
            <a:endCxn id="81" idx="7"/>
          </p:cNvCxnSpPr>
          <p:nvPr/>
        </p:nvCxnSpPr>
        <p:spPr>
          <a:xfrm flipH="1">
            <a:off x="4776885" y="2818513"/>
            <a:ext cx="339774" cy="2117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149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2E2A992E-CAF5-1949-544C-68A01F5910E7}"/>
              </a:ext>
            </a:extLst>
          </p:cNvPr>
          <p:cNvSpPr/>
          <p:nvPr/>
        </p:nvSpPr>
        <p:spPr>
          <a:xfrm>
            <a:off x="3060720" y="2924400"/>
            <a:ext cx="5400000" cy="3600000"/>
          </a:xfrm>
          <a:prstGeom prst="arc">
            <a:avLst>
              <a:gd name="adj1" fmla="val 6372376"/>
              <a:gd name="adj2" fmla="val 8572235"/>
            </a:avLst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1FC3FF-B8EF-5C86-481C-302FD9A45580}"/>
              </a:ext>
            </a:extLst>
          </p:cNvPr>
          <p:cNvSpPr txBox="1"/>
          <p:nvPr/>
        </p:nvSpPr>
        <p:spPr>
          <a:xfrm>
            <a:off x="5937782" y="283440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i="1" dirty="0">
                <a:latin typeface="Inter 18pt" panose="02000503000000020004" pitchFamily="2" charset="0"/>
                <a:ea typeface="Inter 18pt" panose="02000503000000020004" pitchFamily="2" charset="0"/>
              </a:rPr>
              <a:t>Visibility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9534F-6B7A-D4C2-8D3D-2CFCB669E7B6}"/>
              </a:ext>
            </a:extLst>
          </p:cNvPr>
          <p:cNvSpPr txBox="1"/>
          <p:nvPr/>
        </p:nvSpPr>
        <p:spPr>
          <a:xfrm>
            <a:off x="7675715" y="4402829"/>
            <a:ext cx="167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latin typeface="Inter 18pt" panose="02000503000000020004" pitchFamily="2" charset="0"/>
                <a:ea typeface="Inter 18pt" panose="02000503000000020004" pitchFamily="2" charset="0"/>
              </a:rPr>
              <a:t>Coordination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130EFB-7F67-8EBF-A193-E53FD0C2EA03}"/>
              </a:ext>
            </a:extLst>
          </p:cNvPr>
          <p:cNvSpPr txBox="1"/>
          <p:nvPr/>
        </p:nvSpPr>
        <p:spPr>
          <a:xfrm>
            <a:off x="5218844" y="6235683"/>
            <a:ext cx="198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latin typeface="Inter 18pt" panose="02000503000000020004" pitchFamily="2" charset="0"/>
                <a:ea typeface="Inter 18pt" panose="02000503000000020004" pitchFamily="2" charset="0"/>
              </a:rPr>
              <a:t>Interoperability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7A002A-C233-5131-29D1-16568C39635C}"/>
              </a:ext>
            </a:extLst>
          </p:cNvPr>
          <p:cNvSpPr txBox="1"/>
          <p:nvPr/>
        </p:nvSpPr>
        <p:spPr>
          <a:xfrm>
            <a:off x="3216469" y="5646737"/>
            <a:ext cx="91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latin typeface="Inter 18pt" panose="02000503000000020004" pitchFamily="2" charset="0"/>
                <a:ea typeface="Inter 18pt" panose="02000503000000020004" pitchFamily="2" charset="0"/>
              </a:rPr>
              <a:t>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CBB091-0364-2B56-A08C-BD0238282756}"/>
              </a:ext>
            </a:extLst>
          </p:cNvPr>
          <p:cNvSpPr txBox="1"/>
          <p:nvPr/>
        </p:nvSpPr>
        <p:spPr>
          <a:xfrm>
            <a:off x="3216469" y="3432732"/>
            <a:ext cx="165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i="1" dirty="0">
                <a:latin typeface="Inter 18pt" panose="02000503000000020004" pitchFamily="2" charset="0"/>
                <a:ea typeface="Inter 18pt" panose="02000503000000020004" pitchFamily="2" charset="0"/>
              </a:rPr>
              <a:t>Engagement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1F79012-9A3A-639A-390C-DBFF4C0B183C}"/>
              </a:ext>
            </a:extLst>
          </p:cNvPr>
          <p:cNvSpPr/>
          <p:nvPr/>
        </p:nvSpPr>
        <p:spPr>
          <a:xfrm>
            <a:off x="3060720" y="2924400"/>
            <a:ext cx="5400000" cy="3600000"/>
          </a:xfrm>
          <a:prstGeom prst="arc">
            <a:avLst>
              <a:gd name="adj1" fmla="val 18520714"/>
              <a:gd name="adj2" fmla="val 21192548"/>
            </a:avLst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6D5A89E7-DAE8-BD1D-8BA3-27278C21907A}"/>
              </a:ext>
            </a:extLst>
          </p:cNvPr>
          <p:cNvSpPr/>
          <p:nvPr/>
        </p:nvSpPr>
        <p:spPr>
          <a:xfrm>
            <a:off x="3060720" y="2923250"/>
            <a:ext cx="5400000" cy="3600000"/>
          </a:xfrm>
          <a:prstGeom prst="arc">
            <a:avLst>
              <a:gd name="adj1" fmla="val 164740"/>
              <a:gd name="adj2" fmla="val 3165828"/>
            </a:avLst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AD4791B6-2015-6DAF-62B3-CF1C36246C78}"/>
              </a:ext>
            </a:extLst>
          </p:cNvPr>
          <p:cNvSpPr/>
          <p:nvPr/>
        </p:nvSpPr>
        <p:spPr>
          <a:xfrm>
            <a:off x="3060720" y="2931518"/>
            <a:ext cx="5400000" cy="3600000"/>
          </a:xfrm>
          <a:prstGeom prst="arc">
            <a:avLst>
              <a:gd name="adj1" fmla="val 12933489"/>
              <a:gd name="adj2" fmla="val 16563602"/>
            </a:avLst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40EC8F8-2AC3-120B-73D8-2915062D3FD3}"/>
              </a:ext>
            </a:extLst>
          </p:cNvPr>
          <p:cNvSpPr/>
          <p:nvPr/>
        </p:nvSpPr>
        <p:spPr>
          <a:xfrm>
            <a:off x="3060720" y="2915015"/>
            <a:ext cx="5400000" cy="3600000"/>
          </a:xfrm>
          <a:prstGeom prst="arc">
            <a:avLst>
              <a:gd name="adj1" fmla="val 9539935"/>
              <a:gd name="adj2" fmla="val 11989703"/>
            </a:avLst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0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14406A-A693-05E6-D3C8-2E99B580A491}"/>
              </a:ext>
            </a:extLst>
          </p:cNvPr>
          <p:cNvSpPr txBox="1"/>
          <p:nvPr/>
        </p:nvSpPr>
        <p:spPr>
          <a:xfrm>
            <a:off x="4173630" y="2288948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“who is doing what”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C79A0A-7397-33E5-121D-688CC091FF73}"/>
              </a:ext>
            </a:extLst>
          </p:cNvPr>
          <p:cNvSpPr txBox="1"/>
          <p:nvPr/>
        </p:nvSpPr>
        <p:spPr>
          <a:xfrm>
            <a:off x="8270435" y="3511263"/>
            <a:ext cx="3397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“awareness of initiatives and standards already available”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0EDA31-37FE-450F-FB41-C298BAD8E0F2}"/>
              </a:ext>
            </a:extLst>
          </p:cNvPr>
          <p:cNvSpPr txBox="1"/>
          <p:nvPr/>
        </p:nvSpPr>
        <p:spPr>
          <a:xfrm>
            <a:off x="8778840" y="4781776"/>
            <a:ext cx="308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“find gaps and overlaps between initiatives”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D128F8-4DC6-AA0B-C4B8-9EBE72C4BC3A}"/>
              </a:ext>
            </a:extLst>
          </p:cNvPr>
          <p:cNvSpPr txBox="1"/>
          <p:nvPr/>
        </p:nvSpPr>
        <p:spPr>
          <a:xfrm>
            <a:off x="7881826" y="5819255"/>
            <a:ext cx="308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“how do we successfully collaborate”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A84617-7D82-76DE-B2D9-6AB8ADEB859B}"/>
              </a:ext>
            </a:extLst>
          </p:cNvPr>
          <p:cNvSpPr txBox="1"/>
          <p:nvPr/>
        </p:nvSpPr>
        <p:spPr>
          <a:xfrm>
            <a:off x="6184373" y="6732664"/>
            <a:ext cx="3086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“prioritising data interoperability obstacles”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370EDA-0AB3-0E7A-3A34-D97DC49A70CE}"/>
              </a:ext>
            </a:extLst>
          </p:cNvPr>
          <p:cNvSpPr txBox="1"/>
          <p:nvPr/>
        </p:nvSpPr>
        <p:spPr>
          <a:xfrm>
            <a:off x="3675741" y="6749167"/>
            <a:ext cx="2672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“relate overlaps in schemas”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1EB66B-3F08-E691-08EA-3CF2E2018E13}"/>
              </a:ext>
            </a:extLst>
          </p:cNvPr>
          <p:cNvSpPr txBox="1"/>
          <p:nvPr/>
        </p:nvSpPr>
        <p:spPr>
          <a:xfrm>
            <a:off x="1362428" y="5962645"/>
            <a:ext cx="2569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“success stories to feed in marketing “what has this to me”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63661A-8F17-A7FE-692C-82B2E6A95E38}"/>
              </a:ext>
            </a:extLst>
          </p:cNvPr>
          <p:cNvSpPr txBox="1"/>
          <p:nvPr/>
        </p:nvSpPr>
        <p:spPr>
          <a:xfrm>
            <a:off x="724060" y="4195495"/>
            <a:ext cx="2569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latin typeface="Inter 18pt" panose="02000503000000020004" pitchFamily="2" charset="0"/>
                <a:ea typeface="Inter 18pt" panose="02000503000000020004" pitchFamily="2" charset="0"/>
              </a:rPr>
              <a:t>“show examples case studies applications and benefits”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2A4FCC-EAFF-5191-5259-E15B413B6A0B}"/>
              </a:ext>
            </a:extLst>
          </p:cNvPr>
          <p:cNvSpPr txBox="1"/>
          <p:nvPr/>
        </p:nvSpPr>
        <p:spPr>
          <a:xfrm>
            <a:off x="1662250" y="2722104"/>
            <a:ext cx="2569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“99% of people in the industry don’t engage”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B1DB76-8761-24B4-E12C-24C79B9E4E83}"/>
              </a:ext>
            </a:extLst>
          </p:cNvPr>
          <p:cNvSpPr txBox="1"/>
          <p:nvPr/>
        </p:nvSpPr>
        <p:spPr>
          <a:xfrm>
            <a:off x="7062834" y="2406528"/>
            <a:ext cx="33577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“</a:t>
            </a:r>
            <a:r>
              <a:rPr lang="en-GB" dirty="0">
                <a:latin typeface="Inter 18pt" panose="02000503000000020004" pitchFamily="2" charset="0"/>
                <a:ea typeface="Inter 18pt" panose="02000503000000020004" pitchFamily="2" charset="0"/>
              </a:rPr>
              <a:t>Use already existing no other duplication of initiatives</a:t>
            </a:r>
            <a:r>
              <a:rPr lang="en-GB" i="1" dirty="0">
                <a:latin typeface="Inter 18pt" panose="02000503000000020004" pitchFamily="2" charset="0"/>
                <a:ea typeface="Inter 18pt" panose="02000503000000020004" pitchFamily="2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291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538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447</Words>
  <Application>Microsoft Office PowerPoint</Application>
  <PresentationFormat>Custom</PresentationFormat>
  <Paragraphs>92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Inter 18pt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 Farghaly</dc:creator>
  <cp:lastModifiedBy>Karim Farghaly</cp:lastModifiedBy>
  <cp:revision>6</cp:revision>
  <dcterms:created xsi:type="dcterms:W3CDTF">2026-06-16T15:05:12Z</dcterms:created>
  <dcterms:modified xsi:type="dcterms:W3CDTF">2026-06-16T18:22:42Z</dcterms:modified>
</cp:coreProperties>
</file>